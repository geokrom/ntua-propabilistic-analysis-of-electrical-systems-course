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24"/>
  </p:notesMasterIdLst>
  <p:sldIdLst>
    <p:sldId id="256" r:id="rId2"/>
    <p:sldId id="257" r:id="rId3"/>
    <p:sldId id="263" r:id="rId4"/>
    <p:sldId id="264" r:id="rId5"/>
    <p:sldId id="265" r:id="rId6"/>
    <p:sldId id="261" r:id="rId7"/>
    <p:sldId id="268" r:id="rId8"/>
    <p:sldId id="260" r:id="rId9"/>
    <p:sldId id="270" r:id="rId10"/>
    <p:sldId id="277" r:id="rId11"/>
    <p:sldId id="267" r:id="rId12"/>
    <p:sldId id="274" r:id="rId13"/>
    <p:sldId id="276" r:id="rId14"/>
    <p:sldId id="272" r:id="rId15"/>
    <p:sldId id="275" r:id="rId16"/>
    <p:sldId id="278" r:id="rId17"/>
    <p:sldId id="279" r:id="rId18"/>
    <p:sldId id="280" r:id="rId19"/>
    <p:sldId id="281" r:id="rId20"/>
    <p:sldId id="282" r:id="rId21"/>
    <p:sldId id="269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5E33-CCCC-4DCF-B143-53143E024958}" type="datetimeFigureOut">
              <a:rPr lang="el-GR" smtClean="0"/>
              <a:t>23/1/2026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22E9F-5750-42A5-8C06-FAB6817EE77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08835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1156-B785-464A-AEE3-2638C093D1B4}" type="datetime1">
              <a:rPr lang="el-GR" smtClean="0"/>
              <a:t>23/1/2026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189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DD73-772C-4823-B88E-DEC2456E4ABF}" type="datetime1">
              <a:rPr lang="el-GR" smtClean="0"/>
              <a:t>23/1/2026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838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CE7D-7A0D-4EFA-94F1-3C9DD403F7CB}" type="datetime1">
              <a:rPr lang="el-GR" smtClean="0"/>
              <a:t>23/1/2026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7490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1D64-94C4-42BD-9FA8-E0BB11ECF8B3}" type="datetime1">
              <a:rPr lang="el-GR" smtClean="0"/>
              <a:t>23/1/2026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697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54F4-F145-4CC5-B912-18173D6DCC05}" type="datetime1">
              <a:rPr lang="el-GR" smtClean="0"/>
              <a:t>23/1/2026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7262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CB535-428F-4D6E-9843-757A4CC7C717}" type="datetime1">
              <a:rPr lang="el-GR" smtClean="0"/>
              <a:t>23/1/2026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6861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4067-C1AE-4226-9DB5-7897EE88B0F1}" type="datetime1">
              <a:rPr lang="el-GR" smtClean="0"/>
              <a:t>23/1/2026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149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7992-C8BF-4D6A-A3D5-17B0D7C6DF54}" type="datetime1">
              <a:rPr lang="el-GR" smtClean="0"/>
              <a:t>23/1/2026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2010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E90A-7AD6-4F37-A256-7A275EF074B7}" type="datetime1">
              <a:rPr lang="el-GR" smtClean="0"/>
              <a:t>23/1/2026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450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94D94-1E70-452C-8302-41FD872BE8A3}" type="datetime1">
              <a:rPr lang="el-GR" smtClean="0"/>
              <a:t>23/1/2026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331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DF81-6EA7-4D51-89BA-9C022275D67F}" type="datetime1">
              <a:rPr lang="el-GR" smtClean="0"/>
              <a:t>23/1/2026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7624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8D209-334B-4865-8527-0F6983763A6E}" type="datetime1">
              <a:rPr lang="el-GR" smtClean="0"/>
              <a:t>23/1/2026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9C23C-4F07-4C70-A18B-4F9ECBF012A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9513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DFC1AB4-7436-8316-180A-54A64B9F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4500">
                <a:latin typeface="Cambria" panose="02040503050406030204" pitchFamily="18" charset="0"/>
                <a:ea typeface="Cambria" panose="02040503050406030204" pitchFamily="18" charset="0"/>
              </a:rPr>
              <a:t>Wasserstein-Based Control </a:t>
            </a:r>
            <a:r>
              <a:rPr lang="en-US" sz="4500" dirty="0">
                <a:latin typeface="Cambria" panose="02040503050406030204" pitchFamily="18" charset="0"/>
                <a:ea typeface="Cambria" panose="02040503050406030204" pitchFamily="18" charset="0"/>
              </a:rPr>
              <a:t>Architecture: </a:t>
            </a:r>
            <a:br>
              <a:rPr lang="el-GR" sz="4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500" dirty="0">
                <a:latin typeface="Cambria" panose="02040503050406030204" pitchFamily="18" charset="0"/>
                <a:ea typeface="Cambria" panose="02040503050406030204" pitchFamily="18" charset="0"/>
              </a:rPr>
              <a:t>From agent dynamics to optimal transport regulation</a:t>
            </a:r>
            <a:endParaRPr lang="el-GR" sz="4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892B0B7E-128C-27E6-98B2-8402709CD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Georgios Krommydas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gkrommydas@mail.ntua.gr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78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5532337-4C4F-F665-DDB0-4D2AB550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mbria" panose="02040503050406030204" pitchFamily="18" charset="0"/>
                <a:ea typeface="Cambria" panose="02040503050406030204" pitchFamily="18" charset="0"/>
              </a:rPr>
              <a:t>Overview</a:t>
            </a:r>
            <a:endParaRPr lang="el-GR" sz="5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064E57B-E9A1-A824-9A6B-8E81F2EE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Measure-Theoretic Setting.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Real Applications.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Optimal Transport Interpretation.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Distributional Control Problem.</a:t>
            </a:r>
            <a:endParaRPr lang="el-G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8EFB211-EE50-D437-D518-4FCF621F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fld>
            <a:endParaRPr lang="el-GR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4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mbria" panose="02040503050406030204" pitchFamily="18" charset="0"/>
                <a:ea typeface="Cambria" panose="02040503050406030204" pitchFamily="18" charset="0"/>
              </a:rPr>
              <a:t>Measure-Theoretic Setting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93660" y="2599509"/>
                <a:ext cx="10143668" cy="3435531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>
                    <a:latin typeface="Cambria" panose="02040503050406030204" pitchFamily="18" charset="0"/>
                    <a:ea typeface="Cambria" panose="02040503050406030204" pitchFamily="18" charset="0"/>
                  </a:rPr>
                  <a:t>: Polish metric space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set of probability measures with finite p-</a:t>
                </a:r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moment</a:t>
                </a:r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sub>
                      <m:sup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endParaRPr lang="el-GR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0" y="2599509"/>
                <a:ext cx="10143668" cy="3435531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473936E-3123-4A5D-CB20-4A1FC3D4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3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Cambria" panose="02040503050406030204" pitchFamily="18" charset="0"/>
                <a:ea typeface="Cambria" panose="02040503050406030204" pitchFamily="18" charset="0"/>
              </a:rPr>
              <a:t>Definition of Wasserstein Distance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3723" y="2389218"/>
                <a:ext cx="10143668" cy="3435531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∈ 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el-GR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set of couplings with marginals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l-G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) =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inf</m:t>
                                      </m:r>
                                    </m:e>
                                    <m:lim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</m:d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𝒳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𝒳</m:t>
                                          </m:r>
                                        </m:sub>
                                        <m:sup/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p>
                                          </m:sSup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)) </m:t>
                                          </m:r>
                                        </m:e>
                                      </m:nary>
                                    </m:e>
                                  </m:d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723" y="2389218"/>
                <a:ext cx="10143668" cy="3435531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C018B59-EC6A-9846-E6AA-53D58977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4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mbria" panose="02040503050406030204" pitchFamily="18" charset="0"/>
                <a:ea typeface="Cambria" panose="02040503050406030204" pitchFamily="18" charset="0"/>
              </a:rPr>
              <a:t>Key Properties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93660" y="2599509"/>
                <a:ext cx="10143668" cy="3435531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400">
                    <a:latin typeface="Cambria" panose="02040503050406030204" pitchFamily="18" charset="0"/>
                    <a:ea typeface="Cambria" panose="02040503050406030204" pitchFamily="18" charset="0"/>
                  </a:rPr>
                  <a:t>Defines a metric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Measures weak convergence + moment convergence</a:t>
                </a:r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Sensitive to geometry of the underlying space</a:t>
                </a:r>
                <a:endParaRPr lang="el-GR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0" y="2599509"/>
                <a:ext cx="10143668" cy="3435531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B87563A-8B6C-0B7B-1B59-F0FC39DA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5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200">
                <a:latin typeface="Cambria" panose="02040503050406030204" pitchFamily="18" charset="0"/>
                <a:ea typeface="Cambria" panose="02040503050406030204" pitchFamily="18" charset="0"/>
              </a:rPr>
              <a:t>Why Wasserstein Distance in Control?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638" y="2389218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Control of distributions instead of trajectories</a:t>
            </a:r>
          </a:p>
          <a:p>
            <a:pPr marL="914400" lvl="1" indent="-457200">
              <a:buFont typeface="+mj-lt"/>
              <a:buAutoNum type="arabicPeriod"/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Mean-field and swarm systems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Robustness to noise and model uncertainty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controller operates in the space of probability measures, while the physical robots only implement agent-level dynamics.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A6C6148-DA64-6618-389A-7AC8EC72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6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mbria" panose="02040503050406030204" pitchFamily="18" charset="0"/>
                <a:ea typeface="Cambria" panose="02040503050406030204" pitchFamily="18" charset="0"/>
              </a:rPr>
              <a:t>Real Applications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113" y="220307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Swarm robotics formation shaping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Consensus under uncertainty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Stochastic MPC with distributional costs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1A7708C-C719-72D7-1F74-26D2CB7B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7</a:t>
            </a:fld>
            <a:endParaRPr lang="el-G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Optimal Transport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8464" y="1812174"/>
            <a:ext cx="2286000" cy="109728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Source measure μ</a:t>
            </a:r>
          </a:p>
        </p:txBody>
      </p:sp>
      <p:sp>
        <p:nvSpPr>
          <p:cNvPr id="4" name="Rectangle 3"/>
          <p:cNvSpPr/>
          <p:nvPr/>
        </p:nvSpPr>
        <p:spPr>
          <a:xfrm>
            <a:off x="6698672" y="1812174"/>
            <a:ext cx="2286000" cy="109728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Target measure ν</a:t>
            </a:r>
          </a:p>
        </p:txBody>
      </p:sp>
      <p:cxnSp>
        <p:nvCxnSpPr>
          <p:cNvPr id="6" name="Ευθύγραμμο βέλος σύνδεσης 5">
            <a:extLst>
              <a:ext uri="{FF2B5EF4-FFF2-40B4-BE49-F238E27FC236}">
                <a16:creationId xmlns:a16="http://schemas.microsoft.com/office/drawing/2014/main" id="{35BED061-6045-4F96-82CC-C68CBBD84DE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194464" y="2360814"/>
            <a:ext cx="250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A58D77E4-9953-2EB8-7D7D-E0F551FF9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83" y="3304311"/>
            <a:ext cx="6213176" cy="2747622"/>
          </a:xfrm>
          <a:prstGeom prst="rect">
            <a:avLst/>
          </a:prstGeom>
        </p:spPr>
      </p:pic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487F574C-7DC8-6A2A-8FAF-1EA1D118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8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mbria" panose="02040503050406030204" pitchFamily="18" charset="0"/>
                <a:ea typeface="Cambria" panose="02040503050406030204" pitchFamily="18" charset="0"/>
              </a:rPr>
              <a:t>Distributional Control 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7633" y="2559049"/>
                <a:ext cx="6355284" cy="3639450"/>
              </a:xfrm>
            </p:spPr>
            <p:txBody>
              <a:bodyPr anchor="ctr">
                <a:no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Wheeled robot dynamics state: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𝑣</m:t>
                      </m:r>
                      <m:func>
                        <m:func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𝑣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𝜗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𝜗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state Normal Distribution.</a:t>
                </a: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Objective: minimize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₂²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(·,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  <m:r>
                          <a:rPr lang="ar-AE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dt</m:t>
                        </m:r>
                      </m:e>
                    </m:nary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Initial distribution: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₀²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Target distribution: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633" y="2559049"/>
                <a:ext cx="6355284" cy="3639450"/>
              </a:xfrm>
              <a:blipFill>
                <a:blip r:embed="rId2"/>
                <a:stretch>
                  <a:fillRect l="-1246" t="-1843" b="-619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Εικόνα 6" descr="Εικόνα που περιέχει διάγραμμα, γραμμή, παράλληλα, σχεδίασ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02A5E0C-E392-EB37-2F92-EB91529CA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686" y="2484255"/>
            <a:ext cx="3714244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3CB3AAD-C1A4-25C1-C6D6-9075D884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9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1E7671-9DB0-2FB0-F84C-5014C5C9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Probability Measure Modeling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F12A00-8D2D-50EA-CDE4-5A22369C7DBC}"/>
                  </a:ext>
                </a:extLst>
              </p:cNvPr>
              <p:cNvSpPr txBox="1"/>
              <p:nvPr/>
            </p:nvSpPr>
            <p:spPr>
              <a:xfrm>
                <a:off x="793660" y="2599509"/>
                <a:ext cx="10143668" cy="343553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28575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Agent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 ∈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endParaRPr lang="en-US" sz="2400" dirty="0"/>
              </a:p>
              <a:p>
                <a:pPr marL="28575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Empirical measure: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pPr marL="28575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Mean-field representation: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F12A00-8D2D-50EA-CDE4-5A22369C7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0" y="2599509"/>
                <a:ext cx="10143668" cy="3435531"/>
              </a:xfrm>
              <a:prstGeom prst="rect">
                <a:avLst/>
              </a:prstGeom>
              <a:blipFill>
                <a:blip r:embed="rId2"/>
                <a:stretch>
                  <a:fillRect l="-24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8C25C03E-4C65-09F5-29E2-5F683E7A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10</a:t>
            </a:fld>
            <a:endParaRPr lang="el-G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469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646" y="220604"/>
            <a:ext cx="11017827" cy="1325563"/>
          </a:xfrm>
        </p:spPr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Mean-Field Control via Wasserstein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95646" y="1683327"/>
                <a:ext cx="2560320" cy="1097280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Wheeled Robots   </a:t>
                </a:r>
              </a:p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(Unicycle Dynamics)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l-GR" i="1" dirty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46" y="1683327"/>
                <a:ext cx="2560320" cy="1097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151338" y="1683619"/>
                <a:ext cx="2560320" cy="1097280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Empirical Statistics</a:t>
                </a:r>
              </a:p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𝜇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Σ</m:t>
                    </m:r>
                    <m:r>
                      <a:rPr lang="el-GR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   </a:t>
                </a:r>
              </a:p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(Mean, Covariance)</a:t>
                </a:r>
                <a:endParaRPr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338" y="1683619"/>
                <a:ext cx="2560320" cy="10972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215742" y="1392382"/>
                <a:ext cx="3671458" cy="1679169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𝑀𝑒𝑎𝑛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&amp;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𝑉𝑎𝑟𝑖𝑎𝑛𝑐𝑒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𝑅𝑒𝑔𝑢𝑙𝑎𝑡𝑖𝑜𝑛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min</m:t>
                      </m:r>
                      <m:r>
                        <m:rPr>
                          <m:nor/>
                        </m:rPr>
                        <a:rPr lang="en-US" b="0" i="0" dirty="0" smtClean="0"/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ar-AE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ar-AE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ar-AE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ar-AE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ar-AE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ar-AE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ar-AE" b="0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ar-AE" b="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𝑊𝑎𝑠𝑠𝑒𝑟𝑠𝑡𝑒𝑖𝑛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𝑂𝑝𝑡𝑖𝑚𝑎𝑙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𝐶𝑜𝑛𝑡𝑟𝑜𝑙</m:t>
                      </m:r>
                    </m:oMath>
                  </m:oMathPara>
                </a14:m>
                <a:endParaRPr lang="ar-AE" dirty="0"/>
              </a:p>
              <a:p>
                <a:endParaRPr lang="ar-AE" dirty="0"/>
              </a:p>
              <a:p>
                <a:endParaRPr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742" y="1392382"/>
                <a:ext cx="3671458" cy="16791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719701" y="4122982"/>
                <a:ext cx="2663539" cy="1429885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Agent-Level Controller</a:t>
                </a:r>
              </a:p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(Heading &amp; Speed Mapping) </a:t>
                </a:r>
              </a:p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01" y="4122982"/>
                <a:ext cx="2663539" cy="1429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Ευθύγραμμο βέλος σύνδεσης 11">
            <a:extLst>
              <a:ext uri="{FF2B5EF4-FFF2-40B4-BE49-F238E27FC236}">
                <a16:creationId xmlns:a16="http://schemas.microsoft.com/office/drawing/2014/main" id="{EDB30A3E-C044-0E54-13C2-D5E8B8893E7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055966" y="2231967"/>
            <a:ext cx="1095372" cy="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DBA4650-DB58-629F-FC7F-4B42566CD154}"/>
              </a:ext>
            </a:extLst>
          </p:cNvPr>
          <p:cNvSpPr txBox="1"/>
          <p:nvPr/>
        </p:nvSpPr>
        <p:spPr>
          <a:xfrm>
            <a:off x="3184466" y="1683619"/>
            <a:ext cx="91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states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Ευθύγραμμο βέλος σύνδεσης 14">
            <a:extLst>
              <a:ext uri="{FF2B5EF4-FFF2-40B4-BE49-F238E27FC236}">
                <a16:creationId xmlns:a16="http://schemas.microsoft.com/office/drawing/2014/main" id="{6E7BBA48-D793-4878-B6A1-49B0CB9A329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6711658" y="2231967"/>
            <a:ext cx="1504084" cy="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715ABB-66E8-B864-34AD-CC8C3D95E37E}"/>
                  </a:ext>
                </a:extLst>
              </p:cNvPr>
              <p:cNvSpPr txBox="1"/>
              <p:nvPr/>
            </p:nvSpPr>
            <p:spPr>
              <a:xfrm>
                <a:off x="8044870" y="3227512"/>
                <a:ext cx="20878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desired velocity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l-G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715ABB-66E8-B864-34AD-CC8C3D95E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870" y="3227512"/>
                <a:ext cx="2087880" cy="646331"/>
              </a:xfrm>
              <a:prstGeom prst="rect">
                <a:avLst/>
              </a:prstGeom>
              <a:blipFill>
                <a:blip r:embed="rId6"/>
                <a:stretch>
                  <a:fillRect t="-5660" b="-1320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Ευθύγραμμο βέλος σύνδεσης 20">
            <a:extLst>
              <a:ext uri="{FF2B5EF4-FFF2-40B4-BE49-F238E27FC236}">
                <a16:creationId xmlns:a16="http://schemas.microsoft.com/office/drawing/2014/main" id="{C3CA6357-FD7F-A271-A570-A664B693ABF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0051471" y="3071551"/>
            <a:ext cx="0" cy="105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59DFF72A-7826-C058-EB47-3932FA50916F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1775806" y="2780607"/>
            <a:ext cx="0" cy="2088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Ευθεία γραμμή σύνδεσης 28">
            <a:extLst>
              <a:ext uri="{FF2B5EF4-FFF2-40B4-BE49-F238E27FC236}">
                <a16:creationId xmlns:a16="http://schemas.microsoft.com/office/drawing/2014/main" id="{9B1EC435-7ED4-568F-976F-70973A6356F6}"/>
              </a:ext>
            </a:extLst>
          </p:cNvPr>
          <p:cNvCxnSpPr>
            <a:cxnSpLocks/>
          </p:cNvCxnSpPr>
          <p:nvPr/>
        </p:nvCxnSpPr>
        <p:spPr>
          <a:xfrm>
            <a:off x="1775806" y="4869097"/>
            <a:ext cx="69438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59A8DE1-9F32-60ED-E5DD-C00FC42E4CE4}"/>
              </a:ext>
            </a:extLst>
          </p:cNvPr>
          <p:cNvSpPr txBox="1"/>
          <p:nvPr/>
        </p:nvSpPr>
        <p:spPr>
          <a:xfrm>
            <a:off x="4095402" y="4441076"/>
            <a:ext cx="1618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 err="1">
                <a:latin typeface="Cambria" panose="02040503050406030204" pitchFamily="18" charset="0"/>
                <a:ea typeface="Cambria" panose="02040503050406030204" pitchFamily="18" charset="0"/>
              </a:rPr>
              <a:t>control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l-GR" dirty="0" err="1">
                <a:latin typeface="Cambria" panose="02040503050406030204" pitchFamily="18" charset="0"/>
                <a:ea typeface="Cambria" panose="02040503050406030204" pitchFamily="18" charset="0"/>
              </a:rPr>
              <a:t>inputs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7315-5F35-0315-13DA-9BA3275FCDD4}"/>
              </a:ext>
            </a:extLst>
          </p:cNvPr>
          <p:cNvSpPr txBox="1"/>
          <p:nvPr/>
        </p:nvSpPr>
        <p:spPr>
          <a:xfrm>
            <a:off x="6711659" y="1683619"/>
            <a:ext cx="1504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dirty="0" err="1">
                <a:latin typeface="Cambria" panose="02040503050406030204" pitchFamily="18" charset="0"/>
                <a:ea typeface="Cambria" panose="02040503050406030204" pitchFamily="18" charset="0"/>
              </a:rPr>
              <a:t>distribution</a:t>
            </a:r>
            <a:endParaRPr lang="el-G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382F173-D43A-82C4-B77F-C07E919E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11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DE5002-9ABF-1F01-A0EB-0AF154E4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mbria" panose="02040503050406030204" pitchFamily="18" charset="0"/>
                <a:ea typeface="Cambria" panose="02040503050406030204" pitchFamily="18" charset="0"/>
              </a:rPr>
              <a:t>Empirical Statistics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836C8E6-39BB-21A6-4488-FEF891550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2113" y="2308564"/>
                <a:ext cx="10143668" cy="3435531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ar-AE" sz="2400"/>
                          <m:t> </m:t>
                        </m:r>
                      </m:e>
                    </m:nary>
                  </m:oMath>
                </a14:m>
                <a:endParaRPr lang="ar-AE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0"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2400" b="0" i="0">
                            <a:latin typeface="Cambria Math" panose="02040503050406030204" pitchFamily="18" charset="0"/>
                          </a:rPr>
                          <m:t>Ν</m:t>
                        </m:r>
                      </m:den>
                    </m:f>
                    <m:r>
                      <a:rPr lang="ar-AE" sz="24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sz="24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ar-AE" sz="24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d>
                          <m:d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ᵀ</m:t>
                        </m:r>
                        <m:r>
                          <m:rPr>
                            <m:nor/>
                          </m:rPr>
                          <a:rPr lang="en-US" sz="2400"/>
                          <m:t> </m:t>
                        </m:r>
                      </m:e>
                    </m:nary>
                  </m:oMath>
                </a14:m>
                <a:endParaRPr lang="ar-AE" sz="24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836C8E6-39BB-21A6-4488-FEF891550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2113" y="2308564"/>
                <a:ext cx="10143668" cy="343553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05DDF2CD-6CC8-B1F3-FD89-ECC60826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12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69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Cambria" panose="02040503050406030204" pitchFamily="18" charset="0"/>
                <a:ea typeface="Cambria" panose="02040503050406030204" pitchFamily="18" charset="0"/>
              </a:rPr>
              <a:t>Wasserstein High Level Control Law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39694" y="3369188"/>
                <a:ext cx="10143668" cy="3435531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 = −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ar-AE" sz="2400" i="1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endParaRPr lang="ar-AE" sz="2400" dirty="0"/>
              </a:p>
              <a:p>
                <a:r>
                  <a:rPr lang="en-US" sz="2400" dirty="0"/>
                  <a:t>Mean &amp; variance regulation</a:t>
                </a:r>
              </a:p>
              <a:p>
                <a:r>
                  <a:rPr lang="en-US" sz="2400" dirty="0"/>
                  <a:t>Mapped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9694" y="3369188"/>
                <a:ext cx="10143668" cy="3435531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622AE7-5A06-A36C-7531-EC2410560D9E}"/>
                  </a:ext>
                </a:extLst>
              </p:cNvPr>
              <p:cNvSpPr txBox="1"/>
              <p:nvPr/>
            </p:nvSpPr>
            <p:spPr>
              <a:xfrm>
                <a:off x="2643793" y="3203509"/>
                <a:ext cx="6167004" cy="922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ar-AE" sz="2400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ar-AE" sz="2400" i="1" dirty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 i="1" dirty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ar-AE" sz="2400" i="1" dirty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ar-AE" sz="2400" i="1" dirty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 dirty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ar-AE" sz="2400" i="1" dirty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 sz="2400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l-G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622AE7-5A06-A36C-7531-EC2410560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793" y="3203509"/>
                <a:ext cx="6167004" cy="9229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E479C04-1CFC-B3E4-19BB-4F0BE4B0DCBA}"/>
              </a:ext>
            </a:extLst>
          </p:cNvPr>
          <p:cNvSpPr txBox="1"/>
          <p:nvPr/>
        </p:nvSpPr>
        <p:spPr>
          <a:xfrm>
            <a:off x="1239694" y="2691764"/>
            <a:ext cx="6167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Optimal Control Problem</a:t>
            </a:r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D8ABD2BD-AC44-413A-CA3E-FE41BFAC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13</a:t>
            </a:fld>
            <a:endParaRPr lang="el-G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Cambria" panose="02040503050406030204" pitchFamily="18" charset="0"/>
                <a:ea typeface="Cambria" panose="02040503050406030204" pitchFamily="18" charset="0"/>
              </a:rPr>
              <a:t>Analytical Insight (Gaussian Case)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7407" y="2389218"/>
                <a:ext cx="10143668" cy="3435531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Closed-form Wasserstein distance: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ar-AE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₂²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Control drives mean and variance to desired values</a:t>
                </a:r>
                <a:endParaRPr lang="el-G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7407" y="2389218"/>
                <a:ext cx="10143668" cy="3435531"/>
              </a:xfrm>
              <a:blipFill>
                <a:blip r:embed="rId2"/>
                <a:stretch>
                  <a:fillRect l="-84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F63223B-74B1-4E2C-3D3B-45314F61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14</a:t>
            </a:fld>
            <a:endParaRPr lang="el-G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AD552A-82B5-A287-93D1-D703FF8C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Wasserstein Low Level Control Law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2FB7-7618-4990-EDFE-BDF178011323}"/>
                  </a:ext>
                </a:extLst>
              </p:cNvPr>
              <p:cNvSpPr txBox="1"/>
              <p:nvPr/>
            </p:nvSpPr>
            <p:spPr>
              <a:xfrm>
                <a:off x="793660" y="2599509"/>
                <a:ext cx="10143668" cy="343553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34290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Reference heading</a:t>
                </a:r>
              </a:p>
              <a:p>
                <a:pPr lvl="7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m:rPr>
                        <m:nor/>
                      </m:rPr>
                      <a:rPr lang="en-US" sz="2400" b="0" i="0"/>
                      <m:t>  </m:t>
                    </m:r>
                    <m:r>
                      <m:rPr>
                        <m:nor/>
                      </m:rPr>
                      <a:rPr lang="en-US" sz="2400"/>
                      <m:t>​=</m:t>
                    </m:r>
                    <m:r>
                      <m:rPr>
                        <m:nor/>
                      </m:rPr>
                      <a:rPr lang="en-US" sz="2400" b="0" i="0"/>
                      <m:t> </m:t>
                    </m:r>
                    <m:r>
                      <m:rPr>
                        <m:nor/>
                      </m:rPr>
                      <a:rPr lang="en-US" sz="2400"/>
                      <m:t>atan</m:t>
                    </m:r>
                    <m:r>
                      <m:rPr>
                        <m:nor/>
                      </m:rPr>
                      <a:rPr lang="en-US" sz="2400"/>
                      <m:t>2</m:t>
                    </m:r>
                    <m:r>
                      <m:rPr>
                        <m:nor/>
                      </m:rPr>
                      <a:rPr lang="en-US" sz="2400"/>
                      <m:t>( </m:t>
                    </m:r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en-US" sz="2400" b="0" i="0"/>
                      <m:t>(</m:t>
                    </m:r>
                    <m:r>
                      <m:rPr>
                        <m:nor/>
                      </m:rPr>
                      <a:rPr lang="en-US" sz="2400" b="0" i="0"/>
                      <m:t>t</m:t>
                    </m:r>
                    <m:r>
                      <m:rPr>
                        <m:nor/>
                      </m:rPr>
                      <a:rPr lang="en-US" sz="2400" b="0" i="0"/>
                      <m:t>) ,</m:t>
                    </m:r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/>
                      <m:t>(</m:t>
                    </m:r>
                    <m:r>
                      <m:rPr>
                        <m:nor/>
                      </m:rPr>
                      <a:rPr lang="en-US" sz="2400" b="0" i="0"/>
                      <m:t>t</m:t>
                    </m:r>
                    <m:r>
                      <m:rPr>
                        <m:nor/>
                      </m:rPr>
                      <a:rPr lang="en-US" sz="2400" b="0" i="0"/>
                      <m:t>)) </m:t>
                    </m:r>
                  </m:oMath>
                </a14:m>
                <a:endParaRPr lang="en-US" sz="2400" dirty="0"/>
              </a:p>
              <a:p>
                <a:pPr marL="34290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velocity (per agent)</a:t>
                </a:r>
              </a:p>
              <a:p>
                <a:pPr lvl="7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begChr m:val="‖"/>
                        <m:endChr m:val="‖"/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func>
                      <m:func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𝜗</m:t>
                                </m:r>
                              </m:e>
                              <m:sub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𝜗</m:t>
                                </m:r>
                              </m:e>
                              <m:sub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pPr marL="34290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Angular velocity (per agent)</a:t>
                </a:r>
              </a:p>
              <a:p>
                <a:pPr lvl="7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func>
                      <m:func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𝜗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𝜗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2FB7-7618-4990-EDFE-BDF178011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0" y="2599509"/>
                <a:ext cx="10143668" cy="34355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D958EECA-F06D-65AB-BD30-EBC75B19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15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388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Cambria" panose="02040503050406030204" pitchFamily="18" charset="0"/>
                <a:ea typeface="Cambria" panose="02040503050406030204" pitchFamily="18" charset="0"/>
              </a:rPr>
              <a:t>Performance Metric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9807" y="2389218"/>
                <a:ext cx="5430494" cy="3639450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₂²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d>
                                  <m:d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000" i="1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000" dirty="0"/>
              </a:p>
              <a:p>
                <a:r>
                  <a:rPr lang="en-US" sz="2000" dirty="0"/>
                  <a:t>Convergence ⇒ optimal distribution tracking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9807" y="2389218"/>
                <a:ext cx="5430494" cy="3639450"/>
              </a:xfr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Εικόνα 4" descr="Εικόνα που περιέχει κείμενο, γραμμή, γράφημα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AF8E3EF-54D4-AA66-F2D6-D093E7271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35348"/>
            <a:ext cx="5150277" cy="341205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B4D17A4-EFD8-EDEA-7BE7-BD36DCC6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16</a:t>
            </a:fld>
            <a:endParaRPr lang="el-GR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5F6247D-8650-70B0-B893-D5FD6122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941205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Empirical Statistics Plots</a:t>
            </a:r>
          </a:p>
        </p:txBody>
      </p:sp>
      <p:pic>
        <p:nvPicPr>
          <p:cNvPr id="5" name="Εικόνα 4" descr="Εικόνα που περιέχει κείμενο, γραμμή, γράφημα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FB009F9-AC26-1B95-2CF7-BD29278E2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41" y="671201"/>
            <a:ext cx="4527142" cy="2999232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γραμμή, στιγμιότυπο οθόνης, γράφη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E8711F2-519C-9128-6BA8-806C0F265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79" y="671201"/>
            <a:ext cx="4493231" cy="2999232"/>
          </a:xfrm>
          <a:prstGeom prst="rect">
            <a:avLst/>
          </a:prstGeom>
        </p:spPr>
      </p:pic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3F2B1A5C-4257-9996-2EF4-04EA3222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17</a:t>
            </a:fld>
            <a:endParaRPr lang="el-GR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494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111B97A-2FB0-4625-8C2E-CDCB1AF6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C13384-950C-F67F-B9D2-7373D647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801738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State of Every Agent</a:t>
            </a:r>
          </a:p>
        </p:txBody>
      </p:sp>
      <p:pic>
        <p:nvPicPr>
          <p:cNvPr id="7" name="Εικόνα 6" descr="Εικόνα που περιέχει κείμενο, γράφημα, γραμμή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88E3063-5D04-0C4D-5F02-A6093E79D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845" y="1112897"/>
            <a:ext cx="3401033" cy="2295698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γραμμή, γράφημα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9B5AADB-6E7D-8D65-3E26-500E15897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1041135"/>
            <a:ext cx="3520983" cy="2359059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γραμμή, γράφημα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99A7556-3EFA-48FA-A39B-FB7E06EF7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4" y="1129867"/>
            <a:ext cx="3826606" cy="2295963"/>
          </a:xfrm>
          <a:prstGeom prst="rect">
            <a:avLst/>
          </a:prstGeom>
        </p:spPr>
      </p:pic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1D7AB3D4-F028-AA2F-D7EA-CE9AA547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18</a:t>
            </a:fld>
            <a:endParaRPr lang="el-GR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934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86AD9C-4624-5DD3-7176-42216FD5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941205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Control Input of Every Agent</a:t>
            </a:r>
          </a:p>
        </p:txBody>
      </p:sp>
      <p:pic>
        <p:nvPicPr>
          <p:cNvPr id="7" name="Εικόνα 6" descr="Εικόνα που περιέχει κείμενο, γραμμή, γράφημα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3A9995B-3709-3F13-9F1B-E6948E1AD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480" y="758222"/>
            <a:ext cx="4998718" cy="2999232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γράφημα, γραμμή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30AA923-F22A-1B55-B108-2BE4D14D9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53" y="728690"/>
            <a:ext cx="4476463" cy="2999232"/>
          </a:xfrm>
          <a:prstGeom prst="rect">
            <a:avLst/>
          </a:prstGeom>
        </p:spPr>
      </p:pic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C125F7E4-A38D-A434-788E-89CAD436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19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507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Εικόνα που περιέχει διάγραμμα, γραμμή, γράφημα, κείμε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16EB60D8-6429-B5AA-D70E-600AED2AD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42"/>
          <a:stretch>
            <a:fillRect/>
          </a:stretch>
        </p:blipFill>
        <p:spPr>
          <a:xfrm>
            <a:off x="760605" y="10"/>
            <a:ext cx="11434973" cy="6857990"/>
          </a:xfrm>
          <a:prstGeom prst="rect">
            <a:avLst/>
          </a:prstGeom>
        </p:spPr>
      </p:pic>
      <p:sp useBgFill="1">
        <p:nvSpPr>
          <p:cNvPr id="34" name="Rectangle 25">
            <a:extLst>
              <a:ext uri="{FF2B5EF4-FFF2-40B4-BE49-F238E27FC236}">
                <a16:creationId xmlns:a16="http://schemas.microsoft.com/office/drawing/2014/main" id="{7A5E34FE-8412-1F0A-97E2-8DB45EE2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3048699" y="3048698"/>
            <a:ext cx="6858001" cy="760605"/>
          </a:xfrm>
          <a:prstGeom prst="rect">
            <a:avLst/>
          </a:prstGeom>
          <a:ln>
            <a:noFill/>
          </a:ln>
          <a:effectLst>
            <a:outerShdw blurRad="203200" dist="1016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A625B2EB-8453-9F6D-B4B1-FE2115FE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20</a:t>
            </a:fld>
            <a:endParaRPr lang="el-G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8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C. Villani, Optimal Transport: Old and New, Springer, 2009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Peyré &amp; Cuturi, Computational Optimal Transport,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Chen, Georgiou, Pavon, Optimal Transport in Control, Annual Review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65AC8AF-AC09-2DCD-CBDF-B71AB948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162" y="6350924"/>
            <a:ext cx="2743200" cy="365125"/>
          </a:xfrm>
        </p:spPr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21</a:t>
            </a:fld>
            <a:endParaRPr lang="el-GR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ED20D-C436-6213-472E-796E0595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79C97-FED3-D472-4192-EB9B8827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3" name="Θέση αριθμού διαφάνειας 2">
            <a:extLst>
              <a:ext uri="{FF2B5EF4-FFF2-40B4-BE49-F238E27FC236}">
                <a16:creationId xmlns:a16="http://schemas.microsoft.com/office/drawing/2014/main" id="{84AB295F-FAB0-C6A3-AEE0-57ABE7C5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9C23C-4F07-4C70-A18B-4F9ECBF012A6}" type="slidenum">
              <a:rPr lang="el-GR" sz="1800" smtClean="0">
                <a:solidFill>
                  <a:schemeClr val="tx1"/>
                </a:solidFill>
              </a:rPr>
              <a:t>22</a:t>
            </a:fld>
            <a:endParaRPr lang="el-GR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60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2917</TotalTime>
  <Words>557</Words>
  <Application>Microsoft Office PowerPoint</Application>
  <PresentationFormat>Ευρεία οθόνη</PresentationFormat>
  <Paragraphs>117</Paragraphs>
  <Slides>22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</vt:lpstr>
      <vt:lpstr>Cambria Math</vt:lpstr>
      <vt:lpstr>Office Theme</vt:lpstr>
      <vt:lpstr>Wasserstein-Based Control Architecture:  From agent dynamics to optimal transport regulation</vt:lpstr>
      <vt:lpstr>Overview</vt:lpstr>
      <vt:lpstr>Measure-Theoretic Setting</vt:lpstr>
      <vt:lpstr>Definition of Wasserstein Distance</vt:lpstr>
      <vt:lpstr>Key Properties</vt:lpstr>
      <vt:lpstr>Why Wasserstein Distance in Control?</vt:lpstr>
      <vt:lpstr>Real Applications</vt:lpstr>
      <vt:lpstr>Optimal Transport Interpretation</vt:lpstr>
      <vt:lpstr>Distributional Control Problem</vt:lpstr>
      <vt:lpstr>Probability Measure Modeling</vt:lpstr>
      <vt:lpstr>Mean-Field Control via Wasserstein Distance</vt:lpstr>
      <vt:lpstr>Empirical Statistics</vt:lpstr>
      <vt:lpstr>Wasserstein High Level Control Law</vt:lpstr>
      <vt:lpstr>Analytical Insight (Gaussian Case)</vt:lpstr>
      <vt:lpstr>Wasserstein Low Level Control Law</vt:lpstr>
      <vt:lpstr>Performance Metric</vt:lpstr>
      <vt:lpstr>Empirical Statistics Plots</vt:lpstr>
      <vt:lpstr>State of Every Agent</vt:lpstr>
      <vt:lpstr>Control Input of Every Agent</vt:lpstr>
      <vt:lpstr>Παρουσίαση του PowerPoint</vt:lpstr>
      <vt:lpstr>References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Krommydas</dc:creator>
  <cp:lastModifiedBy>George Krommydas</cp:lastModifiedBy>
  <cp:revision>56</cp:revision>
  <dcterms:created xsi:type="dcterms:W3CDTF">2025-12-14T17:33:49Z</dcterms:created>
  <dcterms:modified xsi:type="dcterms:W3CDTF">2026-01-23T14:16:36Z</dcterms:modified>
</cp:coreProperties>
</file>